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Average"/>
      <p:regular r:id="rId25"/>
    </p:embeddedFont>
    <p:embeddedFont>
      <p:font typeface="Oswa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BA43A4-ED65-4326-B423-2F22D3C216D0}">
  <a:tblStyle styleId="{60BA43A4-ED65-4326-B423-2F22D3C216D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Oswald-regular.fntdata"/><Relationship Id="rId25" Type="http://schemas.openxmlformats.org/officeDocument/2006/relationships/font" Target="fonts/Average-regular.fntdata"/><Relationship Id="rId27" Type="http://schemas.openxmlformats.org/officeDocument/2006/relationships/font" Target="fonts/Oswa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5c85abdbf_0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g3c5c85abdbf_0_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c5c85abdbf_0_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5c85abdbf_0_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g3c5c85abdbf_0_1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3c5c85abdbf_0_1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5c85abdbf_0_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g3c5c85abdbf_0_38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c5c85abdbf_0_38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5c85abdbf_0_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" name="Google Shape;125;g3c5c85abdbf_0_96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c5c85abdbf_0_96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5c85abdbf_0_1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g3c5c85abdbf_0_12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c5c85abdbf_0_12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5c85abdbf_0_17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g3c5c85abdbf_0_17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g3c5c85abdbf_0_17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5c85abdbf_0_2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c5c85abdbf_0_21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c5c85abdbf_0_21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5c85abdbf_0_26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g3c5c85abdbf_0_26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c5c85abdbf_0_26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5c85abdbf_0_2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g3c5c85abdbf_0_295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c5c85abdbf_0_295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5c85abdbf_0_3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g3c5c85abdbf_0_342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c5c85abdbf_0_342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5c85abdbf_0_3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g3c5c85abdbf_0_35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3c5c85abdbf_0_35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5c85abdbf_0_38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c5c85abdbf_0_38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c5c85abdbf_0_38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c5c85abdbf_0_40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g3c5c85abdbf_0_40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c5c85abdbf_0_40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c5c85abdbf_0_4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4" name="Google Shape;364;g3c5c85abdbf_0_434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3c5c85abdbf_0_434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5c85abdbf_0_4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g3c5c85abdbf_0_451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c5c85abdbf_0_451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c5c85abdbf_0_47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g3c5c85abdbf_0_479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c5c85abdbf_0_479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5c85abdbf_0_49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g3c5c85abdbf_0_496:notes"/>
          <p:cNvSpPr txBox="1"/>
          <p:nvPr>
            <p:ph idx="1" type="body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c5c85abdbf_0_496:notes"/>
          <p:cNvSpPr txBox="1"/>
          <p:nvPr>
            <p:ph idx="12" type="sldNum"/>
          </p:nvPr>
        </p:nvSpPr>
        <p:spPr>
          <a:xfrm>
            <a:off x="0" y="0"/>
            <a:ext cx="3999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/>
          <p:nvPr/>
        </p:nvSpPr>
        <p:spPr>
          <a:xfrm>
            <a:off x="7132320" y="0"/>
            <a:ext cx="2011800" cy="5143500"/>
          </a:xfrm>
          <a:prstGeom prst="rect">
            <a:avLst/>
          </a:prstGeom>
          <a:solidFill>
            <a:srgbClr val="0D9488">
              <a:alpha val="14900"/>
            </a:srgbClr>
          </a:solidFill>
          <a:ln cap="flat" cmpd="sng" w="12700">
            <a:solidFill>
              <a:srgbClr val="0D9488">
                <a:alpha val="1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6"/>
          <p:cNvSpPr/>
          <p:nvPr/>
        </p:nvSpPr>
        <p:spPr>
          <a:xfrm>
            <a:off x="7863840" y="0"/>
            <a:ext cx="1280100" cy="5143500"/>
          </a:xfrm>
          <a:prstGeom prst="rect">
            <a:avLst/>
          </a:prstGeom>
          <a:solidFill>
            <a:srgbClr val="0D9488">
              <a:alpha val="30199"/>
            </a:srgbClr>
          </a:solidFill>
          <a:ln cap="flat" cmpd="sng" w="12700">
            <a:solidFill>
              <a:srgbClr val="0D9488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548640" y="1097280"/>
            <a:ext cx="6858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Trebuchet MS"/>
              <a:buNone/>
            </a:pPr>
            <a:r>
              <a:rPr b="1" lang="en" sz="4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Enhanced DTF-AT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6"/>
          <p:cNvSpPr/>
          <p:nvPr/>
        </p:nvSpPr>
        <p:spPr>
          <a:xfrm>
            <a:off x="548640" y="1874520"/>
            <a:ext cx="685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600"/>
              <a:buFont typeface="Trebuchet MS"/>
              <a:buNone/>
            </a:pPr>
            <a:r>
              <a:rPr lang="en" sz="2600">
                <a:solidFill>
                  <a:srgbClr val="CCFBF1"/>
                </a:solidFill>
                <a:latin typeface="Trebuchet MS"/>
                <a:ea typeface="Trebuchet MS"/>
                <a:cs typeface="Trebuchet MS"/>
                <a:sym typeface="Trebuchet MS"/>
              </a:rPr>
              <a:t>For Audio Event Classification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548640" y="2542032"/>
            <a:ext cx="2286000" cy="36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548640" y="27432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lang="en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Parth Bhalerao  ·  Haiyan Liao  ·  David Chou  ·  Dhanishtha Patil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7"/>
          <p:cNvSpPr/>
          <p:nvPr/>
        </p:nvSpPr>
        <p:spPr>
          <a:xfrm>
            <a:off x="411480" y="457200"/>
            <a:ext cx="54900" cy="347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502920" y="457200"/>
            <a:ext cx="35661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200"/>
              <a:buFont typeface="Trebuchet MS"/>
              <a:buNone/>
            </a:pPr>
            <a:r>
              <a:rPr b="1" lang="en" sz="22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Why is Audio Classification Hard?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502920" y="1051560"/>
            <a:ext cx="34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10-second clip can contain multiple overlapping events across different frequency ranges. Standard models fail to jointly capture fine-grained spectral detail and long-range temporal structure.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502920" y="1755648"/>
            <a:ext cx="164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5600"/>
              <a:buFont typeface="Trebuchet MS"/>
              <a:buNone/>
            </a:pPr>
            <a:r>
              <a:rPr b="1" lang="en" sz="56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527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502920" y="248716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Audio event classes in AudioSet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4206240" y="384048"/>
            <a:ext cx="45720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4407408" y="493776"/>
            <a:ext cx="420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Standard CNNs Fall Short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4407408" y="731520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Effective at local features but miss global context. Cannot model long-range temporal dependencies across a 10-second clip.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4206240" y="384048"/>
            <a:ext cx="54900" cy="100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206240" y="1517904"/>
            <a:ext cx="45720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4407408" y="1627632"/>
            <a:ext cx="420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Vision Transformers Are Naïve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407408" y="1865376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Treat spectrograms as flat 2D images, ignoring the distinct physical properties of time and frequency axes in audio signals.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/>
          <p:nvPr/>
        </p:nvSpPr>
        <p:spPr>
          <a:xfrm>
            <a:off x="4206240" y="1517904"/>
            <a:ext cx="54900" cy="100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4206240" y="2651760"/>
            <a:ext cx="45720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407408" y="2761488"/>
            <a:ext cx="420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Multi-Label Complexity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4407408" y="2999232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Overlapping events with 2–3 average labels per clip demand precise multi-label reasoning with independent class probabilities.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/>
          <p:nvPr/>
        </p:nvSpPr>
        <p:spPr>
          <a:xfrm>
            <a:off x="4206240" y="2651760"/>
            <a:ext cx="54900" cy="100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206240" y="3785616"/>
            <a:ext cx="45720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407408" y="3895344"/>
            <a:ext cx="420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Transfer Learning Tension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407408" y="4133088"/>
            <a:ext cx="4206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ImageNet pretrained weights come from a visual domain. Bridging them to audio requires extremely careful optimization strategies.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206240" y="3785616"/>
            <a:ext cx="54900" cy="1005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AUDIOSET BALANCED SUBSET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 at a Glance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411480" y="1737360"/>
            <a:ext cx="13533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411480" y="1783080"/>
            <a:ext cx="135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Trebuchet MS"/>
              <a:buNone/>
            </a:pPr>
            <a:r>
              <a:rPr b="1" lang="en" sz="20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20,550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411480" y="2240280"/>
            <a:ext cx="135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TRAINING CLIPS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1837944" y="1737360"/>
            <a:ext cx="13533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1837944" y="1783080"/>
            <a:ext cx="135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Trebuchet MS"/>
              <a:buNone/>
            </a:pPr>
            <a:r>
              <a:rPr b="1" lang="en" sz="20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18,886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1837944" y="2240280"/>
            <a:ext cx="135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EVAL CLIPS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3264408" y="1737360"/>
            <a:ext cx="13533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3264408" y="1783080"/>
            <a:ext cx="135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527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264408" y="2240280"/>
            <a:ext cx="135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EVENT CLASSES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4690872" y="1737360"/>
            <a:ext cx="13533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4690872" y="1783080"/>
            <a:ext cx="135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10s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690872" y="2240280"/>
            <a:ext cx="135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CLIP DURATION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6117336" y="1737360"/>
            <a:ext cx="13533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117336" y="1783080"/>
            <a:ext cx="135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32kHz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117336" y="2240280"/>
            <a:ext cx="135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SAMPLE RATE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7543800" y="1737360"/>
            <a:ext cx="1353300" cy="100590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7543800" y="1783080"/>
            <a:ext cx="1353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Trebuchet MS"/>
              <a:buNone/>
            </a:pPr>
            <a:r>
              <a:rPr b="1" lang="en" sz="20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~22 GB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7543800" y="2240280"/>
            <a:ext cx="1353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TOTAL SIZE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02920" y="301752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 train and evaluate on the AudioSet Balanced subset, which provides a representative cross-section of the full 527-class ontology with carefully verified human labels.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THE CORE PROBLEM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411480" y="457200"/>
            <a:ext cx="54900" cy="347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502920" y="457200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Gradient Instability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02920" y="1051560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fundamental conflict arises when combining randomly initialised components with well-tuned ImageNet pretrained weights in the same training pass.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502925" y="1797550"/>
            <a:ext cx="3657600" cy="969600"/>
          </a:xfrm>
          <a:prstGeom prst="roundRect">
            <a:avLst>
              <a:gd fmla="val 8235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685800" y="1932518"/>
            <a:ext cx="338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Calibri"/>
              <a:buNone/>
            </a:pPr>
            <a:r>
              <a:rPr lang="en" sz="1250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Randomly initialised layers produce large unstable gradients in early training  that corrupt the pretrained backbone before new components can stabilise, causing catastrophic performance loss.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548700" y="3031177"/>
            <a:ext cx="3657600" cy="1391400"/>
          </a:xfrm>
          <a:prstGeom prst="roundRect">
            <a:avLst>
              <a:gd fmla="val 7368" name="adj"/>
            </a:avLst>
          </a:prstGeom>
          <a:solidFill>
            <a:srgbClr val="CCFBF1"/>
          </a:solidFill>
          <a:ln cap="flat" cmpd="sng" w="12700">
            <a:solidFill>
              <a:srgbClr val="99F6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731575" y="3076892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Two-Stage Training Strategy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731575" y="3305507"/>
            <a:ext cx="3383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Stage 1 — Freeze the pretrained backbone for 10 epochs. New components learn the data distribution without corrupting pretrained weights.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Stage 2 — Unfreeze everything for 40 epochs of full joint fine-tuning from a stable initialization.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4434840" y="384048"/>
            <a:ext cx="43434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434840" y="384048"/>
            <a:ext cx="54900" cy="1234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617720" y="475488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STAGE 1 — FREEZE (EPOCHS 1–10)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7720" y="685800"/>
            <a:ext cx="4023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Pretrained backbone frozen. Only new randomly initialised components receive updates. They stabilise and learn basic data features without disrupting the backbone.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400800" y="1618488"/>
            <a:ext cx="365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434840" y="1828800"/>
            <a:ext cx="43434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4434840" y="1828800"/>
            <a:ext cx="54900" cy="1234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4617720" y="1920240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STAGE 2 — JOINT TRAINING (EPOCHS 11–50)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4617720" y="2130552"/>
            <a:ext cx="4023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Full network unfrozen. All components train together. New layers now provide stable gradients that cooperate with the pretrained representations rather than destroying them.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400800" y="3063240"/>
            <a:ext cx="3657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4434840" y="3273552"/>
            <a:ext cx="4343400" cy="123450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4434840" y="3273552"/>
            <a:ext cx="54900" cy="12345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4617720" y="3364992"/>
            <a:ext cx="4023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617720" y="3575304"/>
            <a:ext cx="4023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50"/>
              <a:buFont typeface="Calibri"/>
              <a:buNone/>
            </a:pPr>
            <a:r>
              <a:rPr lang="en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Attention Pooling: 0.13 → 0.30 mAP   |   All Combined: 0.21 → 0.31 mAP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Original DTF-AT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02920" y="105156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Processes spectrograms through parallel time and frequency paths before integrating them via self-attention across four hierarchical stages in a 2-2-5-2 configuration.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502920" y="1572768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658368" y="1741932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58368" y="174193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1024128" y="1682496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Dual Convolutional Stem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Parallel Conv-F and Conv-T paths blended via a learned scalar alpha, capturing both time and frequency local structure.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02920" y="2240280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58368" y="2409444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658368" y="240944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1024128" y="23500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2-2-5-2 Stage Configuration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Four hierarchical encoder stages with channel depth growing from 64 to 96, 192, 384, and 768.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502920" y="2907792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658368" y="3076956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658368" y="307695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1024128" y="3017520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Window and Grid Attention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Local windowed attention for fine texture; global grid attention for long-range dependencies in every block.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02920" y="3575304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658368" y="3744468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658368" y="37444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024128" y="3685032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32 × 4 Final Representation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Input compressed from 1024 × 128 to 32 frequency by 4 time bins before classification over 527 classes.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502920" y="4242816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58368" y="4411980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58368" y="441198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024128" y="4352544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ImageNet-1K Initialisation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Cross-domain transfer learning from visual to audio domain following the original paper protocol.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BASELINE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Original Architecture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533800" y="4353900"/>
            <a:ext cx="2600400" cy="5028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678274" y="4399031"/>
            <a:ext cx="1733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Our Result (3 seeds)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1591550" y="4379688"/>
            <a:ext cx="143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400"/>
              <a:buFont typeface="Trebuchet MS"/>
              <a:buNone/>
            </a:pPr>
            <a:r>
              <a:rPr b="1" lang="en" sz="20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0.267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3317525" y="4353899"/>
            <a:ext cx="2600400" cy="5028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3461999" y="4399030"/>
            <a:ext cx="1733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Paper Reports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375275" y="4379688"/>
            <a:ext cx="143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400"/>
              <a:buFont typeface="Trebuchet MS"/>
              <a:buNone/>
            </a:pPr>
            <a:r>
              <a:rPr b="1" lang="en" sz="2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0.278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101250" y="4353898"/>
            <a:ext cx="2600400" cy="502800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245724" y="4399029"/>
            <a:ext cx="1733700" cy="1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Reproduction Gap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7159000" y="4379688"/>
            <a:ext cx="1434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400"/>
              <a:buFont typeface="Trebuchet MS"/>
              <a:buNone/>
            </a:pPr>
            <a:r>
              <a:rPr b="1" lang="en" sz="2000">
                <a:solidFill>
                  <a:srgbClr val="D97706"/>
                </a:solidFill>
                <a:latin typeface="Trebuchet MS"/>
                <a:ea typeface="Trebuchet MS"/>
                <a:cs typeface="Trebuchet MS"/>
                <a:sym typeface="Trebuchet MS"/>
              </a:rPr>
              <a:t>−0.01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1650" y="996466"/>
            <a:ext cx="6223651" cy="304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ENHANCEMENT 1 OF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Hybrid Pre-Stem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502920" y="105156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residual convolutional block inserted before the standard transformer stem to extract low-level spectro-temporal features that patch-based attention cannot capture on its own.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02920" y="1572768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658368" y="1741932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658368" y="174193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1024128" y="1682496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Residual CNN Block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Two 3×3 convolutions with BatchNorm and ReLU, combined with a skip connection that preserves the original input signal.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02920" y="2240280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658368" y="2409444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658368" y="240944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1024128" y="23500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Shape-Preserving Design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Output shape (T, F, 1) identical to input, making it fully compatible with the downstream pretrained stem block without any modification.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02920" y="2907792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658368" y="3076956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58368" y="307695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024128" y="3017520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Low-Level Feature Extraction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Captures harmonic textures, note onsets, and spectral edges that transformers miss in early patch embeddings.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02920" y="3575304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658368" y="3744468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658368" y="37444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1024128" y="3685032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Minimal Gradient Conflict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The residual connection ensures the original passes through unchanged even before conv layers stabilize, protecting pretrained weights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502920" y="4242816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658368" y="4411980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658368" y="441198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1024128" y="4352544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Best Overall Result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Achieved 0.34 mAP single-stage and 0.35 mAP with two-stage training — the strongest result across all tested configurations.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3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HYBRID PRE-STEM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Best Result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502923" y="1051550"/>
            <a:ext cx="20238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502923" y="1097270"/>
            <a:ext cx="202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0.34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502923" y="1554471"/>
            <a:ext cx="202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 STAGE MAP (+0.08)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502923" y="2084825"/>
            <a:ext cx="20238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502923" y="2130545"/>
            <a:ext cx="202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0.35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502923" y="2587746"/>
            <a:ext cx="202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 STAGE MAP ★ (+0.09)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502923" y="3127243"/>
            <a:ext cx="2023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Gains under both training strategies confirm that enriching low-level features before the transformer stem consistently outperforms adding complexity at the classification head.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0207" y="1051551"/>
            <a:ext cx="5978125" cy="27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ENHANCEMENT 2 OF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Attention Pooling Head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02920" y="105156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Replaces standard adaptive pooling with a learned multi-head attention mechanism that dynamically focuses on the most relevant time-frequency regions for each prediction.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02920" y="1572768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658368" y="1741932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658368" y="174193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1024128" y="1682496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Learnable Query Vector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A 768-dimensional trainable query attends over all 32 × 4 spatial positions in the final Stage 4 feature map.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02920" y="2240280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658368" y="2409444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658368" y="240944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1024128" y="23500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Multi-Head Attention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8 attention heads with head dimension 96, enabling parallel attention over different representation subspaces simultaneously.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02920" y="2907792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658368" y="3076956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658368" y="307695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1024128" y="3017520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Dynamic Spatial Focus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Rather than averaging all positions equally, the model learns which time segments and frequency bands matter most per audio class.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502920" y="3575304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658368" y="3744468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658368" y="37444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1024128" y="3685032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LayerNorm and MLP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Attended representation refined through layer normalisation and a feedforward block before the linear classifier produces predictions.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502920" y="4242816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4"/>
          <p:cNvSpPr/>
          <p:nvPr/>
        </p:nvSpPr>
        <p:spPr>
          <a:xfrm>
            <a:off x="658368" y="4411980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658368" y="441198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1024128" y="4352544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Severe Gradient Instability</a:t>
            </a:r>
            <a:r>
              <a:rPr b="1" lang="en" sz="1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Randomly initialised attention layers disrupted pretrained weights catastrophically in single-stage training, dropping mAP to 0.13.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ATTENTION POOLING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Biggest Recovery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02923" y="1051550"/>
            <a:ext cx="21444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02923" y="1097270"/>
            <a:ext cx="214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DC2626"/>
                </a:solidFill>
                <a:latin typeface="Trebuchet MS"/>
                <a:ea typeface="Trebuchet MS"/>
                <a:cs typeface="Trebuchet MS"/>
                <a:sym typeface="Trebuchet MS"/>
              </a:rPr>
              <a:t>0.13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02923" y="1554471"/>
            <a:ext cx="214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 STAGE MAP (INSTABILITY)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02923" y="2084825"/>
            <a:ext cx="21444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02923" y="2130545"/>
            <a:ext cx="214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0.30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502923" y="2587746"/>
            <a:ext cx="214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 STAGE MAP (+0.17 RECOVERY)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502923" y="3127243"/>
            <a:ext cx="21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dramatic 0.17 mAP recovery is the strongest evidence that gradient instability is a real and solvable problem through staged optimisation.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7" name="Google Shape;28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0725" y="1097275"/>
            <a:ext cx="6110675" cy="26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6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ENHANCEMENT 3 OF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Multi-Scale Fusion Head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02920" y="105156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Collects intermediate representations from all four encoder stages and fuses them through cross-attention and a learnable weighted sum to create a richer multi-scale classification feature.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02920" y="1572768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658368" y="1741932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658368" y="174193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1024128" y="1682496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All Four Stages Tapped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Stage 1 (96d), Stage 2 (192d), Stage 3 (384d), Stage 4 (768d) each projected to 768-dim via adaptive pooling.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502920" y="2240280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658368" y="2409444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658368" y="240944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024128" y="23500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Cross-Attention Fusion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Stage 4 acts as query over all four stage tokens, letting high-level semantic features selectively attend to earlier fine-grained details.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502920" y="2907792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658368" y="3076956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658368" y="307695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1024128" y="3017520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Learnable Weighted Sum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w1·S1 + w2·S2 + w3·S3 + w4·S4 lets the model dynamically balance contribution from each stage during training.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502920" y="3575304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658368" y="3744468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658368" y="37444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1024128" y="3685032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Multi-Scale Representation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Blends fine-grained local textures from early stages with high-level semantic patterns from the final stage.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502920" y="4242816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658368" y="4411980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658368" y="441198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1024128" y="4352544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Moderate Instability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New randomly initialised components cause some gradient conflict but less severe than the attention pooling head alone.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7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MULTI-SCALE FUSION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Stage-Wise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502925" y="1051550"/>
            <a:ext cx="19164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502925" y="1097270"/>
            <a:ext cx="191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0.29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502925" y="1554473"/>
            <a:ext cx="191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 STAGE MAP (+0.03)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502925" y="2084827"/>
            <a:ext cx="19164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502925" y="2130547"/>
            <a:ext cx="191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0.32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502925" y="2587750"/>
            <a:ext cx="1916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 STAGE MAP (+0.06)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02925" y="3127248"/>
            <a:ext cx="1916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Consistent improvement under both strategies confirms that multi-scale feature fusion genuinely benefits audio classification when the optimisation is managed correctly.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2150" y="1053250"/>
            <a:ext cx="6194099" cy="303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ENHANCEMENT 4 OF 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All Combined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502920" y="105156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Simultaneously integrates all three architectural modifications into a single unified model to evaluate whether combined enhancements can stack their individual gains.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8"/>
          <p:cNvSpPr/>
          <p:nvPr/>
        </p:nvSpPr>
        <p:spPr>
          <a:xfrm>
            <a:off x="502920" y="1572768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658368" y="1741932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658368" y="1741932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1024128" y="1682496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Hybrid Pre-Stem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Residual CNN block at the input for low-level feature enrichment before the transformer stem processes the spectrogram.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502920" y="2240280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658368" y="2409444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658368" y="2409444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1024128" y="2350008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Multi-Scale Fusion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Cross-attention over all four stage outputs for a rich multi-resolution classification signal from the full encoder hierarchy.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502920" y="2907792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658368" y="3076956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658368" y="3076956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1024128" y="3017520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MultiHead Attention Pooling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Learnable query attention over Stage 4 features for dynamic spatial focus at the classification head.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502920" y="3575304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658368" y="3744468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658368" y="3744468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1024128" y="3685032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Summed Outputs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Multi-Scale Fusion and Attention Pooling branches are summed before the final linear classifier produces predictions.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502920" y="4242816"/>
            <a:ext cx="8229600" cy="594300"/>
          </a:xfrm>
          <a:prstGeom prst="roundRect">
            <a:avLst>
              <a:gd fmla="val 12308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658368" y="4411980"/>
            <a:ext cx="255900" cy="2559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658368" y="4411980"/>
            <a:ext cx="255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1024128" y="4352544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Maximum Gradient Conflict</a:t>
            </a:r>
            <a:r>
              <a:rPr b="1" lang="en" sz="11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— Three randomly initialised components simultaneously fighting the pretrained backbone — the most severe instability case tested.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9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ALL COMBINED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9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Combined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9"/>
          <p:cNvSpPr/>
          <p:nvPr/>
        </p:nvSpPr>
        <p:spPr>
          <a:xfrm>
            <a:off x="502925" y="1051550"/>
            <a:ext cx="19566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502925" y="1097270"/>
            <a:ext cx="195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DC2626"/>
                </a:solidFill>
                <a:latin typeface="Trebuchet MS"/>
                <a:ea typeface="Trebuchet MS"/>
                <a:cs typeface="Trebuchet MS"/>
                <a:sym typeface="Trebuchet MS"/>
              </a:rPr>
              <a:t>0.21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502925" y="1554473"/>
            <a:ext cx="195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SINGLE STAGE MAP (3× INSTABILITY)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9"/>
          <p:cNvSpPr/>
          <p:nvPr/>
        </p:nvSpPr>
        <p:spPr>
          <a:xfrm>
            <a:off x="502925" y="2084828"/>
            <a:ext cx="19566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9"/>
          <p:cNvSpPr/>
          <p:nvPr/>
        </p:nvSpPr>
        <p:spPr>
          <a:xfrm>
            <a:off x="502925" y="2130548"/>
            <a:ext cx="1956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2600"/>
              <a:buFont typeface="Trebuchet MS"/>
              <a:buNone/>
            </a:pPr>
            <a:r>
              <a:rPr b="1" lang="en" sz="2600">
                <a:solidFill>
                  <a:srgbClr val="16A34A"/>
                </a:solidFill>
                <a:latin typeface="Trebuchet MS"/>
                <a:ea typeface="Trebuchet MS"/>
                <a:cs typeface="Trebuchet MS"/>
                <a:sym typeface="Trebuchet MS"/>
              </a:rPr>
              <a:t>0.31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9"/>
          <p:cNvSpPr/>
          <p:nvPr/>
        </p:nvSpPr>
        <p:spPr>
          <a:xfrm>
            <a:off x="502925" y="2587751"/>
            <a:ext cx="1956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 STAGE MAP (+0.10 RECOVERY)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9"/>
          <p:cNvSpPr/>
          <p:nvPr/>
        </p:nvSpPr>
        <p:spPr>
          <a:xfrm>
            <a:off x="502925" y="3127250"/>
            <a:ext cx="1956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Two-stage training recovers the combined model to 0.31 mAP despite maximum instability, demonstrating the strategy works even in the most complex configuration.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7" name="Google Shape;3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8350" y="1097275"/>
            <a:ext cx="6191948" cy="267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0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ABLATION STUDY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0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Final Results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6" name="Google Shape;386;p30"/>
          <p:cNvGraphicFramePr/>
          <p:nvPr/>
        </p:nvGraphicFramePr>
        <p:xfrm>
          <a:off x="411480" y="102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{60BA43A4-ED65-4326-B423-2F22D3C216D0}</a:tableStyleId>
              </a:tblPr>
              <a:tblGrid>
                <a:gridCol w="2103125"/>
                <a:gridCol w="1234450"/>
                <a:gridCol w="1234450"/>
                <a:gridCol w="914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Configuration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Single Stage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Two Stage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Baseline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Time-Reversed Aug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94A3B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N/A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3A5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E3A5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Hybrid Pre-Stem ★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FDF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Multi-Scale Fusion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9488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0D948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Attention Pooling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75569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47556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 Combined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C2626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DC262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6A34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16A34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+0.05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" name="Google Shape;387;p30"/>
          <p:cNvSpPr/>
          <p:nvPr/>
        </p:nvSpPr>
        <p:spPr>
          <a:xfrm>
            <a:off x="640080" y="3950208"/>
            <a:ext cx="2011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4800"/>
              <a:buFont typeface="Trebuchet MS"/>
              <a:buNone/>
            </a:pPr>
            <a:r>
              <a:rPr b="1" lang="en" sz="4800">
                <a:solidFill>
                  <a:srgbClr val="0D9488"/>
                </a:solidFill>
                <a:latin typeface="Trebuchet MS"/>
                <a:ea typeface="Trebuchet MS"/>
                <a:cs typeface="Trebuchet MS"/>
                <a:sym typeface="Trebuchet MS"/>
              </a:rPr>
              <a:t>0.35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0"/>
          <p:cNvSpPr/>
          <p:nvPr/>
        </p:nvSpPr>
        <p:spPr>
          <a:xfrm>
            <a:off x="2651760" y="4133088"/>
            <a:ext cx="3108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mAP — Hybrid Pre-Stem with Two-Stage Training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0"/>
          <p:cNvSpPr/>
          <p:nvPr/>
        </p:nvSpPr>
        <p:spPr>
          <a:xfrm>
            <a:off x="6035040" y="1024128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0"/>
          <p:cNvSpPr/>
          <p:nvPr/>
        </p:nvSpPr>
        <p:spPr>
          <a:xfrm>
            <a:off x="6035040" y="1024128"/>
            <a:ext cx="54900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0"/>
          <p:cNvSpPr/>
          <p:nvPr/>
        </p:nvSpPr>
        <p:spPr>
          <a:xfrm>
            <a:off x="6217920" y="1115568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Spectral over temporal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0"/>
          <p:cNvSpPr/>
          <p:nvPr/>
        </p:nvSpPr>
        <p:spPr>
          <a:xfrm>
            <a:off x="6217920" y="1344168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Time-reversed augmentation proved audio events are defined by frequency content, not temporal order, adding 0.07 mAP with zero architectural changes.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0"/>
          <p:cNvSpPr/>
          <p:nvPr/>
        </p:nvSpPr>
        <p:spPr>
          <a:xfrm>
            <a:off x="6035040" y="2048256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0"/>
          <p:cNvSpPr/>
          <p:nvPr/>
        </p:nvSpPr>
        <p:spPr>
          <a:xfrm>
            <a:off x="6035040" y="2048256"/>
            <a:ext cx="54900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0"/>
          <p:cNvSpPr/>
          <p:nvPr/>
        </p:nvSpPr>
        <p:spPr>
          <a:xfrm>
            <a:off x="6217920" y="2139696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Simple beats complex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0"/>
          <p:cNvSpPr/>
          <p:nvPr/>
        </p:nvSpPr>
        <p:spPr>
          <a:xfrm>
            <a:off x="6217920" y="2368296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shape-preserving Hybrid Pre-Stem outperformed all configurations by enriching low-level features before the transformer rather than adding head complexity.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0"/>
          <p:cNvSpPr/>
          <p:nvPr/>
        </p:nvSpPr>
        <p:spPr>
          <a:xfrm>
            <a:off x="6035040" y="3072384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6035040" y="3072384"/>
            <a:ext cx="54900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0"/>
          <p:cNvSpPr/>
          <p:nvPr/>
        </p:nvSpPr>
        <p:spPr>
          <a:xfrm>
            <a:off x="6217920" y="3163824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Optimisation is architecture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0"/>
          <p:cNvSpPr/>
          <p:nvPr/>
        </p:nvSpPr>
        <p:spPr>
          <a:xfrm>
            <a:off x="6217920" y="3392424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Two-stage training rescued failing configurations dramatically, proving how you train matters as much as what you build.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0"/>
          <p:cNvSpPr/>
          <p:nvPr/>
        </p:nvSpPr>
        <p:spPr>
          <a:xfrm>
            <a:off x="6035040" y="4096512"/>
            <a:ext cx="2743200" cy="9144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0"/>
          <p:cNvSpPr/>
          <p:nvPr/>
        </p:nvSpPr>
        <p:spPr>
          <a:xfrm>
            <a:off x="6035040" y="4096512"/>
            <a:ext cx="54900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0"/>
          <p:cNvSpPr/>
          <p:nvPr/>
        </p:nvSpPr>
        <p:spPr>
          <a:xfrm>
            <a:off x="6217920" y="4187952"/>
            <a:ext cx="246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000"/>
              <a:buFont typeface="Calibri"/>
              <a:buNone/>
            </a:pPr>
            <a:r>
              <a:rPr b="1" lang="en" sz="1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Gradient stability is critical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0"/>
          <p:cNvSpPr/>
          <p:nvPr/>
        </p:nvSpPr>
        <p:spPr>
          <a:xfrm>
            <a:off x="6217920" y="4416552"/>
            <a:ext cx="2469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Calibri"/>
              <a:buNone/>
            </a:pPr>
            <a:r>
              <a:rPr lang="en" sz="9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Any randomly initialised component mixed with a pretrained backbone requires staged optimisation to prevent catastrophic weight corruption.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1"/>
          <p:cNvSpPr/>
          <p:nvPr/>
        </p:nvSpPr>
        <p:spPr>
          <a:xfrm>
            <a:off x="502920" y="256032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BIBLIOGRAPHY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411480" y="457200"/>
            <a:ext cx="54900" cy="4389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502920" y="475488"/>
            <a:ext cx="8321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000"/>
              <a:buFont typeface="Trebuchet MS"/>
              <a:buNone/>
            </a:pPr>
            <a:r>
              <a:rPr b="1" lang="en" sz="3000">
                <a:solidFill>
                  <a:srgbClr val="1E3A5F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502920" y="1078992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[1] Alex et al. (2024). DTF-AT: Decoupled Time-Frequency Audio Transformer for Event Classification. AAAI 2024, pp. 17647–17655.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502920" y="1554480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[2] Gemmeke et al. (2017). Audio Set: An ontology and human-labeled dataset for audio events. ICASSP 2017, pp. 776–780.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502920" y="202996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[3] Gong et al. (2021). AST: Audio Spectrogram Transformer. Interspeech 2021, pp. 571–575.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502920" y="2505456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[4] Kong et al. (2020). PANNs: Large-Scale Pretrained Audio Neural Networks for Audio Pattern Recognition. IEEE/ACM TASLP, 28, 2880–2894.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502920" y="2980944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[5] Liu et al. (2021). Swin Transformer: Hierarchical Vision Transformer Using Shifted Windows. ICCV 2021, pp. 10012–10022.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502920" y="3456432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[6] Tu et al. (2022). MaxViT: Multi-Axis Vision Transformer. ECCV 2022, pp. 459–479.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502920" y="3931920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[7] Loshchilov &amp; Hutter (2019). Decoupled Weight Decay Regularization. ICLR 2019.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502920" y="4407408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lang="en" sz="10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[8] Deng et al. (2009). ImageNet: A Large-Scale Hierarchical Image Database. CVPR 2009, pp. 248–255.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2"/>
          <p:cNvSpPr/>
          <p:nvPr/>
        </p:nvSpPr>
        <p:spPr>
          <a:xfrm>
            <a:off x="0" y="0"/>
            <a:ext cx="9144000" cy="1280100"/>
          </a:xfrm>
          <a:prstGeom prst="rect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548640" y="1463040"/>
            <a:ext cx="8046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lang="en" sz="5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3200400" y="2834640"/>
            <a:ext cx="2743200" cy="45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548640" y="3017520"/>
            <a:ext cx="8046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600"/>
              <a:buFont typeface="Calibri"/>
              <a:buNone/>
            </a:pPr>
            <a:r>
              <a:rPr lang="en" sz="1600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548640" y="4206240"/>
            <a:ext cx="804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Parth Bhalerao  ·  Haiyan Liao  ·  David Chou  ·  Dhanishtha Patil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